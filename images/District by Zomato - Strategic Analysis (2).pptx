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Inter SemiBold"/>
      <p:regular r:id="rId14"/>
      <p:bold r:id="rId15"/>
      <p:italic r:id="rId16"/>
      <p:boldItalic r:id="rId17"/>
    </p:embeddedFont>
    <p:embeddedFont>
      <p:font typeface="Inter Light"/>
      <p:regular r:id="rId18"/>
      <p:bold r:id="rId19"/>
      <p:italic r:id="rId20"/>
      <p:boldItalic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Poppi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Light-italic.fntdata"/><Relationship Id="rId22" Type="http://schemas.openxmlformats.org/officeDocument/2006/relationships/font" Target="fonts/Poppins-regular.fntdata"/><Relationship Id="rId21" Type="http://schemas.openxmlformats.org/officeDocument/2006/relationships/font" Target="fonts/InterLight-boldItalic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bold.fntdata"/><Relationship Id="rId30" Type="http://schemas.openxmlformats.org/officeDocument/2006/relationships/font" Target="fonts/PoppinsSemiBold-regular.fntdata"/><Relationship Id="rId11" Type="http://schemas.openxmlformats.org/officeDocument/2006/relationships/slide" Target="slides/slide6.xml"/><Relationship Id="rId33" Type="http://schemas.openxmlformats.org/officeDocument/2006/relationships/font" Target="fonts/PoppinsSemiBold-boldItalic.fntdata"/><Relationship Id="rId10" Type="http://schemas.openxmlformats.org/officeDocument/2006/relationships/slide" Target="slides/slide5.xml"/><Relationship Id="rId32" Type="http://schemas.openxmlformats.org/officeDocument/2006/relationships/font" Target="fonts/PoppinsSemiBold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SemiBold-bold.fntdata"/><Relationship Id="rId14" Type="http://schemas.openxmlformats.org/officeDocument/2006/relationships/font" Target="fonts/InterSemiBold-regular.fntdata"/><Relationship Id="rId17" Type="http://schemas.openxmlformats.org/officeDocument/2006/relationships/font" Target="fonts/InterSemiBold-boldItalic.fntdata"/><Relationship Id="rId16" Type="http://schemas.openxmlformats.org/officeDocument/2006/relationships/font" Target="fonts/InterSemiBold-italic.fntdata"/><Relationship Id="rId19" Type="http://schemas.openxmlformats.org/officeDocument/2006/relationships/font" Target="fonts/InterLight-bold.fntdata"/><Relationship Id="rId18" Type="http://schemas.openxmlformats.org/officeDocument/2006/relationships/font" Target="fonts/Inter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0cc995a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c0cc995a1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0cc995a1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c0cc995a1a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10" Type="http://schemas.openxmlformats.org/officeDocument/2006/relationships/image" Target="../media/image10.png"/><Relationship Id="rId9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6134100"/>
            <a:ext cx="106680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1946969"/>
            <a:ext cx="1066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PRODUCT MANAGEMENT CASE STUDY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381250"/>
            <a:ext cx="1120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District by Zomato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762000" y="3505200"/>
            <a:ext cx="762000" cy="7620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3867150"/>
            <a:ext cx="80964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63"/>
                </a:solidFill>
                <a:latin typeface="Inter Light"/>
                <a:ea typeface="Inter Light"/>
                <a:cs typeface="Inter Light"/>
                <a:sym typeface="Inter Light"/>
              </a:rPr>
              <a:t>Strategic expansion into the unified "going-out" and entertainment ecosystem.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953000"/>
            <a:ext cx="12192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762000" y="6334125"/>
            <a:ext cx="283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0801350" y="6334125"/>
            <a:ext cx="62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6134100"/>
            <a:ext cx="106680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71675"/>
            <a:ext cx="5048250" cy="412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62000" y="762000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01. Strategic Context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762000" y="1476375"/>
            <a:ext cx="10668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6334125"/>
            <a:ext cx="22288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ZOMATO STRATEGIC ANALYSIS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801350" y="6334125"/>
            <a:ext cx="6286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SLIDE 01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1971675"/>
            <a:ext cx="53006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Leveraging Core Strengths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24479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Zomato has established absolute dominance in the food-tech sector with </a:t>
            </a: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50M+ Monthly Active Users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324802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The core business model revolves around high-frequency utility, providing the perfect data foundation to expand into adjacent lifestyle categories.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62000" y="435292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The Opportunity: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The multi-billion dollar offline "going-out" market is currently fragmented and ripe for digital consolidation.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772275" y="2362200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Strategic Rationale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867525" y="2838450"/>
            <a:ext cx="95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962775" y="2838450"/>
            <a:ext cx="407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Ownership of the entire social loop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867525" y="3181350"/>
            <a:ext cx="95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962775" y="3181350"/>
            <a:ext cx="407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Increased Average Revenue Per User (ARPU)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867525" y="3524250"/>
            <a:ext cx="95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962775" y="3524250"/>
            <a:ext cx="407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Defense against specialized experience apps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867525" y="3867150"/>
            <a:ext cx="95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962775" y="3867150"/>
            <a:ext cx="407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Logistical &amp; Payment infrastructure reuse</a:t>
            </a:r>
            <a:endParaRPr/>
          </a:p>
        </p:txBody>
      </p:sp>
      <p:pic>
        <p:nvPicPr>
          <p:cNvPr descr="image.png" id="115" name="Google Shape;11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81200"/>
            <a:ext cx="5029200" cy="4529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6134100"/>
            <a:ext cx="106680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62000" y="762000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02. Background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762000" y="1476375"/>
            <a:ext cx="10668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762000" y="6334125"/>
            <a:ext cx="14954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PRODUCT OVERVIEW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782300" y="6334125"/>
            <a:ext cx="647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SLIDE 02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62000" y="1971675"/>
            <a:ext cx="53006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is District?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62000" y="2447925"/>
            <a:ext cx="50484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Launched in </a:t>
            </a: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November 2024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, District is Zomato's dedicated mobile application for discovering and booking "going-out" experiences.</a:t>
            </a:r>
            <a:endParaRPr b="0" i="0" sz="1500" u="none" cap="none" strike="noStrike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669450" y="3834788"/>
            <a:ext cx="504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The platform aggregates movies, live events, dining, sports, and cultural activities into a single, unified interface.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381750" y="1971675"/>
            <a:ext cx="53006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Problem Space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381750" y="2447925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Users face constant friction when answering the question: </a:t>
            </a: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"What should we do today?"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320050" y="3787125"/>
            <a:ext cx="504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District targets this discovery gap by providing a hyper-local, curated ecosystem that moves beyond simple transactional booking to lifestyle inspiration.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5578875"/>
            <a:ext cx="106680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416450"/>
            <a:ext cx="5191125" cy="22973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416450"/>
            <a:ext cx="5191125" cy="22973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999510"/>
            <a:ext cx="5191125" cy="22973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3999510"/>
            <a:ext cx="5191125" cy="229731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762000" y="762000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03. Challenges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762000" y="1476375"/>
            <a:ext cx="10668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690025" y="6457750"/>
            <a:ext cx="2314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MARKET &amp; PRODUCT FRICTIONS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0833700" y="6423850"/>
            <a:ext cx="647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SLIDE 03</a:t>
            </a:r>
            <a:endParaRPr/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4900" y="1759350"/>
            <a:ext cx="45053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1104900" y="2216550"/>
            <a:ext cx="473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Discovery Awareness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104900" y="2692800"/>
            <a:ext cx="45054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Low baseline awareness of niche local events. Users historically relied on word-of-mouth or social media.</a:t>
            </a:r>
            <a:endParaRPr/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1759350"/>
            <a:ext cx="45053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6581775" y="2216550"/>
            <a:ext cx="473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Infrequent Category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581775" y="2692800"/>
            <a:ext cx="45054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Unlike daily food ordering, entertainment is a weekly or monthly activity, making habit formation difficult.</a:t>
            </a:r>
            <a:endParaRPr/>
          </a:p>
        </p:txBody>
      </p:sp>
      <p:pic>
        <p:nvPicPr>
          <p:cNvPr descr="image.png" id="150" name="Google Shape;15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04900" y="4342410"/>
            <a:ext cx="45053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1104900" y="4799610"/>
            <a:ext cx="473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Fragmented Platforms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1104900" y="5275860"/>
            <a:ext cx="45054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Disjointed user journeys across multiple apps for movies, comedy, and concerts created friction.</a:t>
            </a:r>
            <a:endParaRPr/>
          </a:p>
        </p:txBody>
      </p:sp>
      <p:pic>
        <p:nvPicPr>
          <p:cNvPr descr="image.png" id="153" name="Google Shape;15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4342410"/>
            <a:ext cx="45053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6581775" y="4799610"/>
            <a:ext cx="473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Retention Hurdles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581775" y="5275860"/>
            <a:ext cx="45054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Preventing churn after a single high-profile event booking (e.g., a major concert) is a critical PM focus.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6134100"/>
            <a:ext cx="106680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750" y="4634550"/>
            <a:ext cx="5048250" cy="124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762000" y="762000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04. The Approach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762000" y="1476375"/>
            <a:ext cx="10668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762000" y="6334125"/>
            <a:ext cx="16859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STRATEGIC EXECUTION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0772775" y="6334125"/>
            <a:ext cx="6572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SLIDE 04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045275" y="4795582"/>
            <a:ext cx="426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Product Philosophy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045275" y="5195632"/>
            <a:ext cx="4267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"Moving the user from 'I'm hungry' to 'I want an experience' within the same trusted brand ecosystem."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238250" y="2143125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Ecosystem Leverage: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Tapped into Zomato’s 50M+ user base for instant distribution.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238250" y="2686050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Discovery-First UI: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Focused on AI-driven recommendations rather than just search.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1238250" y="3228975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Inorganic Growth: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Accelerated speed-to-market via Paytm ticketing acquisition.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238250" y="3771900"/>
            <a:ext cx="4572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Operational Efficiency: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Simplified booking flow and stepwise expansion (Metro → Tier 2).</a:t>
            </a:r>
            <a:endParaRPr/>
          </a:p>
        </p:txBody>
      </p:sp>
      <p:pic>
        <p:nvPicPr>
          <p:cNvPr descr="image.png" id="172" name="Google Shape;17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1955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7384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2813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8242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952625"/>
            <a:ext cx="5267325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6134100"/>
            <a:ext cx="106680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762000" y="762000"/>
            <a:ext cx="112014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05. Outcomes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762000" y="1476375"/>
            <a:ext cx="10668000" cy="192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762000" y="6334125"/>
            <a:ext cx="1390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IMPACT &amp; RESULTS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10782300" y="6334125"/>
            <a:ext cx="6477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SLIDE 05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294250" y="4686525"/>
            <a:ext cx="382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Stronger Lifestyle Positioning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294250" y="5136950"/>
            <a:ext cx="5282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District has successfully transitioned Zomato from a transactional delivery app into a broader lifestyle destination, significantly increasing Lifetime Value (LTV).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700325" y="1919288"/>
            <a:ext cx="256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E23744"/>
                </a:solidFill>
                <a:latin typeface="Poppins"/>
                <a:ea typeface="Poppins"/>
                <a:cs typeface="Poppins"/>
                <a:sym typeface="Poppins"/>
              </a:rPr>
              <a:t>45%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700325" y="2776538"/>
            <a:ext cx="2562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EVENT VISIBILITY INCREASE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4024550" y="1919288"/>
            <a:ext cx="2371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E23744"/>
                </a:solidFill>
                <a:latin typeface="Poppins"/>
                <a:ea typeface="Poppins"/>
                <a:cs typeface="Poppins"/>
                <a:sym typeface="Poppins"/>
              </a:rPr>
              <a:t>2.4x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4024550" y="2776538"/>
            <a:ext cx="2371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ENGAGEMENT MULTIPLIER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525500" y="3390900"/>
            <a:ext cx="564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Market Visibility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525500" y="3781425"/>
            <a:ext cx="57150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By consolidating TicketNew and Insider under the District brand, Zomato significantly increased event visibility and created a new revenue stream beyond food logistics.</a:t>
            </a:r>
            <a:endParaRPr sz="1300"/>
          </a:p>
        </p:txBody>
      </p:sp>
      <p:pic>
        <p:nvPicPr>
          <p:cNvPr descr="image.png" id="194" name="Google Shape;19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4250" y="1804488"/>
            <a:ext cx="5715000" cy="3261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6134100"/>
            <a:ext cx="106680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762000" y="762000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06. Product Management Lessons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762000" y="1476375"/>
            <a:ext cx="10668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762000" y="6334125"/>
            <a:ext cx="11715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KEY TAKEAWAYS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10782300" y="6334125"/>
            <a:ext cx="647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SLIDE 06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1238250" y="2124075"/>
            <a:ext cx="10191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Leverage Distribution: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Using an existing, trusted ecosystem is 10x more effective than building a user base from scratch.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1238250" y="3019425"/>
            <a:ext cx="10191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Discovery &gt; Search: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In lifestyle categories, users don't always know what they want. Inspiration beats navigation.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1238250" y="3914775"/>
            <a:ext cx="1019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Validate before Scaling: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Deep PMF in Metro hubs must be established before aggressive Tier-2 expansion.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1238250" y="4505325"/>
            <a:ext cx="10191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Consolidation Accelerates: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In fragmented markets, strategic acquisition (Paytm) is the fastest way to acquire domain expertise.</a:t>
            </a:r>
            <a:endParaRPr/>
          </a:p>
        </p:txBody>
      </p:sp>
      <p:pic>
        <p:nvPicPr>
          <p:cNvPr descr="image.png" id="208" name="Google Shape;20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76462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71812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967162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557712"/>
            <a:ext cx="16192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"/>
          <p:cNvSpPr txBox="1"/>
          <p:nvPr/>
        </p:nvSpPr>
        <p:spPr>
          <a:xfrm>
            <a:off x="5272087" y="1418332"/>
            <a:ext cx="1647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374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DISCUSSION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3220640" y="1883122"/>
            <a:ext cx="57507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715000" y="3311872"/>
            <a:ext cx="762000" cy="7620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4781550" y="3769072"/>
            <a:ext cx="262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4024312" y="5277742"/>
            <a:ext cx="4143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